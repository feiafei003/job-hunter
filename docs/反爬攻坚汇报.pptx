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8BDF8"/>
                </a:solidFill>
                <a:latin typeface="微软雅黑"/>
              </a:rPr>
              <a:t>招聘职位自动抓取系统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微软雅黑"/>
              </a:rPr>
              <a:t>反爬攻坚 · 阶段成果汇报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微软雅黑"/>
              </a:rPr>
              <a:t>多平台（智联 / 领英 / BOSS / 猎聘 / 51）自动化抓取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微软雅黑"/>
              </a:rPr>
              <a:t>从「全靠手动」到「绝大多数全自动」的突破纪实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37760"/>
            <a:ext cx="3840480" cy="3657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微软雅黑"/>
              </a:rPr>
              <a:t>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PROJECT 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项目目标与整体架构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微软雅黑"/>
              </a:rP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00784"/>
            <a:ext cx="8321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多平台职位自动抓取 → AI 匹配打分 → 定时预抓取 → 邮件推送日报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0048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微软雅黑"/>
              </a:rPr>
              <a:t>技术栈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816352"/>
            <a:ext cx="8321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FastAPI + Playwright + APScheduler + Cursor / DeepSeek 大模型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微软雅黑"/>
              </a:rPr>
              <a:t>抓取基座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931920"/>
            <a:ext cx="8321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CDP 接管你登录好的真实 Chrome，复用会话——最强反爬绕过起点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01184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47488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微软雅黑"/>
              </a:rPr>
              <a:t>拦路虎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047488"/>
            <a:ext cx="8321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各平台反爬，其中 BOSS 直聘的反自动化最为强硬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CORE 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为什么「程序抓」被拦，「手动点」却没事？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反爬不看「谁在操作」，而看一组能区分</a:t>
            </a:r>
            <a:r>
              <a:rPr sz="1700" b="1">
                <a:solidFill>
                  <a:srgbClr val="38BDF8"/>
                </a:solidFill>
                <a:latin typeface="微软雅黑"/>
              </a:rPr>
              <a:t>真人浏览器</a:t>
            </a:r>
            <a:r>
              <a:rPr sz="1700" b="0">
                <a:solidFill>
                  <a:srgbClr val="E2E8F0"/>
                </a:solidFill>
                <a:latin typeface="微软雅黑"/>
              </a:rPr>
              <a:t>与</a:t>
            </a:r>
            <a:r>
              <a:rPr sz="1700" b="1">
                <a:solidFill>
                  <a:srgbClr val="FBBF24"/>
                </a:solidFill>
                <a:latin typeface="微软雅黑"/>
              </a:rPr>
              <a:t>自动化程序</a:t>
            </a:r>
            <a:r>
              <a:rPr sz="1700" b="0">
                <a:solidFill>
                  <a:srgbClr val="E2E8F0"/>
                </a:solidFill>
                <a:latin typeface="微软雅黑"/>
              </a:rPr>
              <a:t>的信号。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6888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网络层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23682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2E8F0"/>
                </a:solidFill>
                <a:latin typeface="微软雅黑"/>
              </a:rPr>
              <a:t>IP 信誉 / 请求频率 / Referer 来路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2860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246888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指纹层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971800"/>
            <a:ext cx="23682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2E8F0"/>
                </a:solidFill>
                <a:latin typeface="微软雅黑"/>
              </a:rPr>
              <a:t>navigator.webdriver / CDP 调试器特征 / UA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2860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46888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行为层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971800"/>
            <a:ext cx="23682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2E8F0"/>
                </a:solidFill>
                <a:latin typeface="微软雅黑"/>
              </a:rPr>
              <a:t>鼠标轨迹 / 滚动深度 / 停留时长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22860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246888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导航与令牌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971800"/>
            <a:ext cx="23682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2E8F0"/>
                </a:solidFill>
                <a:latin typeface="微软雅黑"/>
              </a:rPr>
              <a:t>是否走有机导航、深链所需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4D399"/>
                </a:solidFill>
                <a:latin typeface="微软雅黑"/>
              </a:rPr>
              <a:t>手动浏览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四层全是真实信号 → 风控评分高 → 放行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4340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87171"/>
                </a:solidFill>
                <a:latin typeface="微软雅黑"/>
              </a:rPr>
              <a:t>程序抓取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任一层露馅 → 限流 / 验证码 / 白板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ACHIEVEMENTS  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已经做到了什么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81912"/>
            <a:ext cx="365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微软雅黑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智联 / 领英：CDP 全自动抓列表 + 进详情页补全完整 JD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000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365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拟人化行为体系：随机鼠标轨迹、滚动与回滚、不规律停留、读完再关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9981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81528"/>
            <a:ext cx="365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54096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详情页 Referer 伪装 + 被拦指数退避 + 连续熔断保护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9624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831336"/>
            <a:ext cx="365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03904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BOSS：从「必须手动开标签」推进到「程序自动模拟真人搜索流程」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943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581144"/>
            <a:ext cx="365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53712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引入 rebrowser 补丁版 Playwright，针对性消除 CDP 调试器特征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330952"/>
            <a:ext cx="365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微软雅黑"/>
              </a:rPr>
              <a:t>智联 / 领英 / 猎聘 / 51 等站点已稳定全自动运行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PRINCIPLE  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反爬分层原理 × 我们的对策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5212080"/>
              </a:tblGrid>
              <a:tr h="80467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微软雅黑"/>
                        </a:rPr>
                        <a:t>层级</a:t>
                      </a:r>
                    </a:p>
                  </a:txBody>
                  <a:tcPr anchor="ctr" marL="13716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微软雅黑"/>
                        </a:rPr>
                        <a:t>反爬检测点</a:t>
                      </a:r>
                    </a:p>
                  </a:txBody>
                  <a:tcPr anchor="ctr" marL="13716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微软雅黑"/>
                        </a:rPr>
                        <a:t>我们的对策</a:t>
                      </a:r>
                    </a:p>
                  </a:txBody>
                  <a:tcPr anchor="ctr" marL="137160" marT="45720" marB="45720">
                    <a:solidFill>
                      <a:srgbClr val="38BD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 marL="137160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IP 信誉 / 频率 / Referer</a:t>
                      </a:r>
                    </a:p>
                  </a:txBody>
                  <a:tcPr anchor="ctr" marL="137160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限速、随机间隔、Referer 伪装、退避熔断</a:t>
                      </a:r>
                    </a:p>
                  </a:txBody>
                  <a:tcPr anchor="ctr" marL="137160" marT="45720" marB="45720"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微软雅黑"/>
                        </a:rPr>
                        <a:t>指纹层</a:t>
                      </a:r>
                    </a:p>
                  </a:txBody>
                  <a:tcPr anchor="ctr" marL="137160" marT="45720" marB="45720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webdriver / CDP / UA</a:t>
                      </a:r>
                    </a:p>
                  </a:txBody>
                  <a:tcPr anchor="ctr" marL="137160" marT="45720" marB="45720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stealth 脚本、真实 Chrome、rebrowser 补丁</a:t>
                      </a:r>
                    </a:p>
                  </a:txBody>
                  <a:tcPr anchor="ctr" marL="137160" marT="45720" marB="45720">
                    <a:solidFill>
                      <a:srgbClr val="16213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微软雅黑"/>
                        </a:rPr>
                        <a:t>行为层</a:t>
                      </a:r>
                    </a:p>
                  </a:txBody>
                  <a:tcPr anchor="ctr" marL="137160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鼠标 / 滚动 / 停留</a:t>
                      </a:r>
                    </a:p>
                  </a:txBody>
                  <a:tcPr anchor="ctr" marL="137160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拟人化动作库（轨迹·滚动·停留·读完再关）</a:t>
                      </a:r>
                    </a:p>
                  </a:txBody>
                  <a:tcPr anchor="ctr" marL="137160" marT="45720" marB="45720"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微软雅黑"/>
                        </a:rPr>
                        <a:t>导航/令牌</a:t>
                      </a:r>
                    </a:p>
                  </a:txBody>
                  <a:tcPr anchor="ctr" marL="137160" marT="45720" marB="45720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深链直达、缺 token</a:t>
                      </a:r>
                    </a:p>
                  </a:txBody>
                  <a:tcPr anchor="ctr" marL="137160" marT="45720" marB="45720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微软雅黑"/>
                        </a:rPr>
                        <a:t>模拟首页搜索，产生带 token 的有机导航</a:t>
                      </a:r>
                    </a:p>
                  </a:txBody>
                  <a:tcPr anchor="ctr" marL="137160" marT="45720" marB="45720">
                    <a:solidFill>
                      <a:srgbClr val="1621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一步步的尝试与攻坚过程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TIMELINE  尝试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我们一步步做了哪些尝试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120640"/>
                <a:gridCol w="3108960"/>
                <a:gridCol w="2194560"/>
              </a:tblGrid>
              <a:tr h="58293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#</a:t>
                      </a:r>
                    </a:p>
                  </a:txBody>
                  <a:tcPr anchor="ctr" marL="109728" marT="27432" marB="27432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做法</a:t>
                      </a:r>
                    </a:p>
                  </a:txBody>
                  <a:tcPr anchor="ctr" marL="109728" marT="27432" marB="27432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解决的问题</a:t>
                      </a:r>
                    </a:p>
                  </a:txBody>
                  <a:tcPr anchor="ctr" marL="109728" marT="27432" marB="27432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 anchor="ctr" marL="109728" marT="27432" marB="27432">
                    <a:solidFill>
                      <a:srgbClr val="38BD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拟人化节奏 + 鼠标轨迹 + 滚动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行为评分过低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微软雅黑"/>
                        </a:rPr>
                        <a:t>成功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详情页带 Referer + 读完停留再关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「凭空直达」特征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微软雅黑"/>
                        </a:rPr>
                        <a:t>成功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被拦后指数退避 + 连续熔断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越刷越被限流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微软雅黑"/>
                        </a:rPr>
                        <a:t>成功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BOSS 自动模拟首页搜索（有机导航）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深链缺 token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BBF24"/>
                          </a:solidFill>
                          <a:latin typeface="微软雅黑"/>
                        </a:rPr>
                        <a:t>首页仍被吐空白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CDP 模式注入 stealth（隐藏 webdriver）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浅层指纹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7171"/>
                          </a:solidFill>
                          <a:latin typeface="微软雅黑"/>
                        </a:rPr>
                        <a:t>无效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浏览器原生导航 Target.createTarget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程序导航被拦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7171"/>
                          </a:solidFill>
                          <a:latin typeface="微软雅黑"/>
                        </a:rPr>
                        <a:t>标签被秒关</a:t>
                      </a:r>
                    </a:p>
                  </a:txBody>
                  <a:tcPr anchor="ctr" marL="109728" marT="27432" marB="27432">
                    <a:solidFill>
                      <a:srgbClr val="162133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2E8F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换 rebrowser-playwright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</a:rPr>
                        <a:t>CDP 调试器检测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8BDF8"/>
                          </a:solidFill>
                          <a:latin typeface="微软雅黑"/>
                        </a:rPr>
                        <a:t>已接入·待验证</a:t>
                      </a:r>
                    </a:p>
                  </a:txBody>
                  <a:tcPr anchor="ctr" marL="109728" marT="27432" marB="2743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DEEP-DIVE  原理①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BOSS 的「白板」是怎么回事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9928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87171"/>
                </a:solidFill>
                <a:latin typeface="微软雅黑"/>
              </a:rPr>
              <a:t>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709928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直接 goto 搜索深链 → 页面被吐成空 body，URL 停在 about:blank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07208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16936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微软雅黑"/>
              </a:rPr>
              <a:t>根因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916936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深链缺少搜索流程中由 JS 生成的安全 token（__zp_stoken__），服务端/前端识别后直接返回空文档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14216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23944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4D399"/>
                </a:solidFill>
                <a:latin typeface="微软雅黑"/>
              </a:rPr>
              <a:t>对策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123944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模拟真人在首页搜索框打字 + 点搜索按钮 → 有机导航自动带上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21224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微软雅黑"/>
              </a:rPr>
              <a:t>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330952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但发现连首页本身也被吐成 about:blank → 问题升级到「导航动作」这一层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DEEP-DIVE  原理②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为什么 stealth 和原生导航都没用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微软雅黑"/>
              </a:rPr>
              <a:t>现象：</a:t>
            </a:r>
            <a:r>
              <a:rPr sz="1600" b="0">
                <a:solidFill>
                  <a:srgbClr val="E2E8F0"/>
                </a:solidFill>
                <a:latin typeface="微软雅黑"/>
              </a:rPr>
              <a:t>注入反检测脚本无效；用 Target.createTarget 开的标签被秒关。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BBF24"/>
                </a:solidFill>
                <a:latin typeface="微软雅黑"/>
              </a:rPr>
              <a:t>诊断结论</a:t>
            </a:r>
            <a:r>
              <a:rPr sz="1700" b="0">
                <a:solidFill>
                  <a:srgbClr val="E2E8F0"/>
                </a:solidFill>
                <a:latin typeface="微软雅黑"/>
              </a:rPr>
              <a:t>：BOSS 检测的是「CDP 调试器已挂载」这件事本身。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原理：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• Playwright 默认会对每个 frame 调用 </a:t>
            </a:r>
            <a:r>
              <a:rPr sz="1500" b="1">
                <a:solidFill>
                  <a:srgbClr val="38BDF8"/>
                </a:solidFill>
                <a:latin typeface="微软雅黑"/>
              </a:rPr>
              <a:t>Runtime.enable</a:t>
            </a:r>
            <a:r>
              <a:rPr sz="1500" b="0">
                <a:solidFill>
                  <a:srgbClr val="E2E8F0"/>
                </a:solidFill>
                <a:latin typeface="微软雅黑"/>
              </a:rPr>
              <a:t>，泄漏出一个可被探测的执行上下文 ID。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• 反爬脚本据此判定「浏览器正被自动化控制」→ 直接白板 / 关标签。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• 这是 Cloudflare、BOSS 等顶级反爬的通用、底层检测手段，</a:t>
            </a:r>
            <a:r>
              <a:rPr sz="1500" b="1">
                <a:solidFill>
                  <a:srgbClr val="FBBF24"/>
                </a:solidFill>
                <a:latin typeface="微软雅黑"/>
              </a:rPr>
              <a:t>普通 stealth 与换导航方式都绕不过。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SOLUTION  对策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当前方案：rebrowser-playwright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是什么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73936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Playwright 的「打补丁直替版」，导入名 rebrowser_playwright，业务代码零改动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16352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核心原理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44368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不自动调用 Runtime.enable，改用 addBinding 在需要时才取上下文 → 不再泄漏特征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86784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我们的做法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11480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仅替换浏览器引擎；其它站点照常工作，互不影响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57216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85232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微软雅黑"/>
              </a:rPr>
              <a:t>当前状态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285232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微软雅黑"/>
              </a:rPr>
              <a:t>已装 1.49.1（与现有版本精确匹配）并接入，待重启验证 BOSS 首页是否正常渲染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LIMITS  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仍难以彻底克服的，以及原理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27632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微软雅黑"/>
              </a:rPr>
              <a:t>滑块 / 行为验证码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55648"/>
            <a:ext cx="7406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微软雅黑"/>
              </a:rPr>
              <a:t>对抗式人机验证（geetest 等），需真人轨迹或打码平台，程序无法稳定自动破解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98064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微软雅黑"/>
              </a:rPr>
              <a:t>设备指纹 + IP 信誉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926080"/>
            <a:ext cx="7406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微软雅黑"/>
              </a:rPr>
              <a:t>服务端多维风控建模：单机单 IP 高频访问必然被限流，靠单点很难规避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68496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96512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微软雅黑"/>
              </a:rPr>
              <a:t>反爬军备竞赛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096512"/>
            <a:ext cx="7406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微软雅黑"/>
              </a:rPr>
              <a:t>rebrowser 等补丁也可能被新检测针对，需要持续跟进、动态对抗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66944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微软雅黑"/>
              </a:rPr>
              <a:t>首次安全验证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266944"/>
            <a:ext cx="7406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微软雅黑"/>
              </a:rPr>
              <a:t>首次仍可能需人工过一次验证，登录态保存后才可持续自动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COMPARE 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各方案隐蔽性对比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743200"/>
                <a:gridCol w="1737360"/>
                <a:gridCol w="1828800"/>
              </a:tblGrid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 anchor="ctr" marL="109728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webdriver</a:t>
                      </a:r>
                    </a:p>
                  </a:txBody>
                  <a:tcPr anchor="ctr" marL="109728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CDP 特征</a:t>
                      </a:r>
                    </a:p>
                  </a:txBody>
                  <a:tcPr anchor="ctr" marL="109728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登录复用</a:t>
                      </a:r>
                    </a:p>
                  </a:txBody>
                  <a:tcPr anchor="ctr" marL="109728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/>
                        </a:rPr>
                        <a:t>BOSS 可用</a:t>
                      </a:r>
                    </a:p>
                  </a:txBody>
                  <a:tcPr anchor="ctr" marL="109728">
                    <a:solidFill>
                      <a:srgbClr val="38BDF8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2E8F0"/>
                          </a:solidFill>
                          <a:latin typeface="微软雅黑"/>
                        </a:rPr>
                        <a:t>普通 Selenium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暴露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暴露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弱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87171"/>
                          </a:solidFill>
                          <a:latin typeface="微软雅黑"/>
                        </a:rPr>
                        <a:t>否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2E8F0"/>
                          </a:solidFill>
                          <a:latin typeface="微软雅黑"/>
                        </a:rPr>
                        <a:t>普通 Playwright 启动</a:t>
                      </a:r>
                    </a:p>
                  </a:txBody>
                  <a:tcPr anchor="ctr" marL="109728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可隐藏</a:t>
                      </a:r>
                    </a:p>
                  </a:txBody>
                  <a:tcPr anchor="ctr" marL="109728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Runtime.enable 暴露</a:t>
                      </a:r>
                    </a:p>
                  </a:txBody>
                  <a:tcPr anchor="ctr" marL="109728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 marL="109728"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87171"/>
                          </a:solidFill>
                          <a:latin typeface="微软雅黑"/>
                        </a:rPr>
                        <a:t>否</a:t>
                      </a:r>
                    </a:p>
                  </a:txBody>
                  <a:tcPr anchor="ctr" marL="109728">
                    <a:solidFill>
                      <a:srgbClr val="162133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2E8F0"/>
                          </a:solidFill>
                          <a:latin typeface="微软雅黑"/>
                        </a:rPr>
                        <a:t>CDP 接管真实 Chrome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隐藏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Runtime.enable 暴露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强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BBF24"/>
                          </a:solidFill>
                          <a:latin typeface="微软雅黑"/>
                        </a:rPr>
                        <a:t>部分</a:t>
                      </a:r>
                    </a:p>
                  </a:txBody>
                  <a:tcPr anchor="ctr" marL="109728">
                    <a:solidFill>
                      <a:srgbClr val="1E293B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2E8F0"/>
                          </a:solidFill>
                          <a:latin typeface="微软雅黑"/>
                        </a:rPr>
                        <a:t>rebrowser + CDP 接管</a:t>
                      </a:r>
                    </a:p>
                  </a:txBody>
                  <a:tcPr anchor="ctr" marL="109728">
                    <a:solidFill>
                      <a:srgbClr val="183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隐藏</a:t>
                      </a:r>
                    </a:p>
                  </a:txBody>
                  <a:tcPr anchor="ctr" marL="109728">
                    <a:solidFill>
                      <a:srgbClr val="183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已消除</a:t>
                      </a:r>
                    </a:p>
                  </a:txBody>
                  <a:tcPr anchor="ctr" marL="109728">
                    <a:solidFill>
                      <a:srgbClr val="183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2E8F0"/>
                          </a:solidFill>
                          <a:latin typeface="微软雅黑"/>
                        </a:rPr>
                        <a:t>强</a:t>
                      </a:r>
                    </a:p>
                  </a:txBody>
                  <a:tcPr anchor="ctr" marL="109728">
                    <a:solidFill>
                      <a:srgbClr val="183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4D399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anchor="ctr" marL="109728">
                    <a:solidFill>
                      <a:srgbClr val="1833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78992"/>
            <a:ext cx="146304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微软雅黑"/>
              </a:rPr>
              <a:t>ROADMAP 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接下来怎么走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验证 rebrowser 是否让 BOSS 首页正常渲染（重启服务后重跑）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3288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32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32888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若仍被拦：切换 alwaysIsolated 模式 / 对齐指纹（UA·语言·时区·分辨率）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74136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741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7413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引入住宅代理 IP 池，分散访问频率，降低 IP 风控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15384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1538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1538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滑块兜底：保留「人工过一次验证」通道，评估打码平台对接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56632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566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5663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微软雅黑"/>
              </a:rPr>
              <a:t>其它站点持续稳定运行 + 抓取质量与成功率监控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job-hunter · 反爬攻坚阶段汇报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微软雅黑"/>
              </a:rPr>
              <a:t>已把抓取从「全靠手动」推进到「绝大多数站点全自动，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微软雅黑"/>
              </a:rPr>
              <a:t>BOSS 仅首次可能需过一次验证」。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E2E8F0"/>
                </a:solidFill>
                <a:latin typeface="微软雅黑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微软雅黑"/>
              </a:rPr>
              <a:t>反爬是动态对抗，方案需持续演进——但核心难点已被逐层拆解。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微软雅黑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